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793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762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50980"/>
                  </a:srgbClr>
                </a:solidFill>
              </a:rPr>
              <a:t>VJNT &amp; OBC Welfare Department, Maharashtra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1270000"/>
            <a:ext cx="10922000" cy="152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5400" b="true">
                <a:solidFill>
                  <a:srgbClr val="FFFFFF"/>
                </a:solidFill>
              </a:rPr>
              <a:t>GATEE Portal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2921000"/>
            <a:ext cx="10922000" cy="635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2200" b="false">
                <a:solidFill>
                  <a:srgbClr val="60A5FA"/>
                </a:solidFill>
              </a:rPr>
              <a:t>Class Management &amp; FLN Assessment System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62000" y="3810000"/>
            <a:ext cx="9652000" cy="127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false">
                <a:solidFill>
                  <a:srgbClr val="FFFFFF">
                    <a:alpha val="70588"/>
                  </a:srgbClr>
                </a:solidFill>
              </a:rPr>
              <a:t>A digital platform to track Foundational Literacy &amp; Numeracy (FLN)</a:t>
            </a: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false">
                <a:solidFill>
                  <a:srgbClr val="FFFFFF">
                    <a:alpha val="70588"/>
                  </a:srgbClr>
                </a:solidFill>
              </a:rPr>
              <a:t>progress of students across all VJNT schools in Maharashtra —</a:t>
            </a: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false">
                <a:solidFill>
                  <a:srgbClr val="FFFFFF">
                    <a:alpha val="70588"/>
                  </a:srgbClr>
                </a:solidFill>
              </a:rPr>
              <a:t>from school-level data entry to state-level analytics.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62000" y="5461000"/>
            <a:ext cx="38100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11" id="11"/>
          <p:cNvSpPr txBox="true"/>
          <p:nvPr/>
        </p:nvSpPr>
        <p:spPr>
          <a:xfrm>
            <a:off x="762000" y="5842000"/>
            <a:ext cx="1905000" cy="330200"/>
          </a:xfrm>
          <a:prstGeom prst="rect">
            <a:avLst/>
          </a:prstGeom>
          <a:solidFill>
            <a:srgbClr val="60A5FA">
              <a:alpha val="15686"/>
            </a:srgbClr>
          </a:solidFill>
          <a:ln w="12700">
            <a:solidFill>
              <a:srgbClr val="60A5FA">
                <a:alpha val="47059"/>
              </a:srgbClr>
            </a:solidFill>
          </a:ln>
        </p:spPr>
        <p:txBody>
          <a:bodyPr anchor="t" rtlCol="false"/>
          <a:lstStyle/>
        </p:txBody>
      </p:sp>
      <p:sp>
        <p:nvSpPr>
          <p:cNvPr name="TextBox 12" id="12"/>
          <p:cNvSpPr txBox="true"/>
          <p:nvPr/>
        </p:nvSpPr>
        <p:spPr>
          <a:xfrm>
            <a:off x="787400" y="5892800"/>
            <a:ext cx="18542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60A5FA"/>
                </a:solidFill>
              </a:rPr>
              <a:t>Maharashtra, India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2794000" y="5842000"/>
            <a:ext cx="1905000" cy="330200"/>
          </a:xfrm>
          <a:prstGeom prst="rect">
            <a:avLst/>
          </a:prstGeom>
          <a:solidFill>
            <a:srgbClr val="60A5FA">
              <a:alpha val="15686"/>
            </a:srgbClr>
          </a:solidFill>
          <a:ln w="12700">
            <a:solidFill>
              <a:srgbClr val="60A5FA">
                <a:alpha val="47059"/>
              </a:srgbClr>
            </a:solidFill>
          </a:ln>
        </p:spPr>
        <p:txBody>
          <a:bodyPr anchor="t" rtlCol="false"/>
          <a:lstStyle/>
        </p:txBody>
      </p:sp>
      <p:sp>
        <p:nvSpPr>
          <p:cNvPr name="TextBox 14" id="14"/>
          <p:cNvSpPr txBox="true"/>
          <p:nvPr/>
        </p:nvSpPr>
        <p:spPr>
          <a:xfrm>
            <a:off x="2819400" y="5892800"/>
            <a:ext cx="18542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60A5FA"/>
                </a:solidFill>
              </a:rPr>
              <a:t>VJNT &amp; OBC Schools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826000" y="5842000"/>
            <a:ext cx="1549400" cy="330200"/>
          </a:xfrm>
          <a:prstGeom prst="rect">
            <a:avLst/>
          </a:prstGeom>
          <a:solidFill>
            <a:srgbClr val="60A5FA">
              <a:alpha val="15686"/>
            </a:srgbClr>
          </a:solidFill>
          <a:ln w="12700">
            <a:solidFill>
              <a:srgbClr val="60A5FA">
                <a:alpha val="47059"/>
              </a:srgbClr>
            </a:solidFill>
          </a:ln>
        </p:spPr>
        <p:txBody>
          <a:bodyPr anchor="t" rtlCol="false"/>
          <a:lstStyle/>
        </p:txBody>
      </p:sp>
      <p:sp>
        <p:nvSpPr>
          <p:cNvPr name="TextBox 16" id="16"/>
          <p:cNvSpPr txBox="true"/>
          <p:nvPr/>
        </p:nvSpPr>
        <p:spPr>
          <a:xfrm>
            <a:off x="4851400" y="5892800"/>
            <a:ext cx="14986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60A5FA"/>
                </a:solidFill>
              </a:rPr>
              <a:t>Classes I – IX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6502400" y="5842000"/>
            <a:ext cx="1282700" cy="330200"/>
          </a:xfrm>
          <a:prstGeom prst="rect">
            <a:avLst/>
          </a:prstGeom>
          <a:solidFill>
            <a:srgbClr val="60A5FA">
              <a:alpha val="15686"/>
            </a:srgbClr>
          </a:solidFill>
          <a:ln w="12700">
            <a:solidFill>
              <a:srgbClr val="60A5FA">
                <a:alpha val="47059"/>
              </a:srgbClr>
            </a:solidFill>
          </a:ln>
        </p:spPr>
        <p:txBody>
          <a:bodyPr anchor="t" rtlCol="false"/>
          <a:lstStyle/>
        </p:txBody>
      </p:sp>
      <p:sp>
        <p:nvSpPr>
          <p:cNvPr name="TextBox 18" id="18"/>
          <p:cNvSpPr txBox="true"/>
          <p:nvPr/>
        </p:nvSpPr>
        <p:spPr>
          <a:xfrm>
            <a:off x="6527800" y="5892800"/>
            <a:ext cx="12319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60A5FA"/>
                </a:solidFill>
              </a:rPr>
              <a:t>FLN Mission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7912100" y="5842000"/>
            <a:ext cx="2171700" cy="330200"/>
          </a:xfrm>
          <a:prstGeom prst="rect">
            <a:avLst/>
          </a:prstGeom>
          <a:solidFill>
            <a:srgbClr val="60A5FA">
              <a:alpha val="15686"/>
            </a:srgbClr>
          </a:solidFill>
          <a:ln w="12700">
            <a:solidFill>
              <a:srgbClr val="60A5FA">
                <a:alpha val="47059"/>
              </a:srgbClr>
            </a:solidFill>
          </a:ln>
        </p:spPr>
        <p:txBody>
          <a:bodyPr anchor="t" rtlCol="false"/>
          <a:lstStyle/>
        </p:txBody>
      </p:sp>
      <p:sp>
        <p:nvSpPr>
          <p:cNvPr name="TextBox 20" id="20"/>
          <p:cNvSpPr txBox="true"/>
          <p:nvPr/>
        </p:nvSpPr>
        <p:spPr>
          <a:xfrm>
            <a:off x="7937500" y="5892800"/>
            <a:ext cx="21209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60A5FA"/>
                </a:solidFill>
              </a:rPr>
              <a:t>Academic Year 2026-27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WHY THIS SYSTEM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841500"/>
            <a:ext cx="60960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400">
                <a:solidFill>
                  <a:srgbClr val="F87171"/>
                </a:solidFill>
              </a:rPr>
              <a:t>❌  No centralised data — schools kept paper registers, making division-level review impossible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400">
                <a:solidFill>
                  <a:srgbClr val="F87171"/>
                </a:solidFill>
              </a:rPr>
              <a:t>❌  No phase tracking — unclear which schools had completed FLN assessments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400">
                <a:solidFill>
                  <a:srgbClr val="F87171"/>
                </a:solidFill>
              </a:rPr>
              <a:t>❌  No approval workflow — data had no verification or Head Master sign-off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400">
                <a:solidFill>
                  <a:srgbClr val="F87171"/>
                </a:solidFill>
              </a:rPr>
              <a:t>❌  No student reports — generating individual progress reports was fully manual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400">
                <a:solidFill>
                  <a:srgbClr val="F87171"/>
                </a:solidFill>
              </a:rPr>
              <a:t>❌  No year-end process — class promotion had no digital record or audit trail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239000" y="1651000"/>
            <a:ext cx="4826000" cy="4572000"/>
          </a:xfrm>
          <a:prstGeom prst="rect">
            <a:avLst/>
          </a:prstGeom>
          <a:solidFill>
            <a:srgbClr val="1E3C78"/>
          </a:solidFill>
          <a:ln w="12700">
            <a:solidFill>
              <a:srgbClr val="60A5FA"/>
            </a:solidFill>
          </a:ln>
        </p:spPr>
        <p:txBody>
          <a:bodyPr anchor="t" rtlCol="false"/>
          <a:lstStyle/>
        </p:txBody>
      </p:sp>
      <p:sp>
        <p:nvSpPr>
          <p:cNvPr name="TextBox 10" id="10"/>
          <p:cNvSpPr txBox="true"/>
          <p:nvPr/>
        </p:nvSpPr>
        <p:spPr>
          <a:xfrm>
            <a:off x="7366000" y="18415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60A5FA"/>
                </a:solidFill>
              </a:rPr>
              <a:t>GATEE Portal Solves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7366000" y="2349500"/>
            <a:ext cx="45720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300">
                <a:solidFill>
                  <a:srgbClr val="4ADE80"/>
                </a:solidFill>
              </a:rPr>
              <a:t>✅  Centralised, real-time student FLN data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300">
                <a:solidFill>
                  <a:srgbClr val="4ADE80"/>
                </a:solidFill>
              </a:rPr>
              <a:t>✅  4-phase structured assessment per year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300">
                <a:solidFill>
                  <a:srgbClr val="4ADE80"/>
                </a:solidFill>
              </a:rPr>
              <a:t>✅  Head Master approval workflow per phase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300">
                <a:solidFill>
                  <a:srgbClr val="4ADE80"/>
                </a:solidFill>
              </a:rPr>
              <a:t>✅  Auto-generated PDF student report cards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300">
                <a:solidFill>
                  <a:srgbClr val="4ADE80"/>
                </a:solidFill>
              </a:rPr>
              <a:t>✅  Automated class promotion with audit trail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300">
                <a:solidFill>
                  <a:srgbClr val="4ADE80"/>
                </a:solidFill>
              </a:rPr>
              <a:t>✅  Analytics at school / district / division level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300">
                <a:solidFill>
                  <a:srgbClr val="4ADE80"/>
                </a:solidFill>
              </a:rPr>
              <a:t>✅  Parent meeting (Palak Melava) tracking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SYSTEM OVERVIEW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What is GATEE Portal?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587500"/>
            <a:ext cx="10795000" cy="571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false">
                <a:solidFill>
                  <a:srgbClr val="FFFFFF">
                    <a:alpha val="70588"/>
                  </a:srgbClr>
                </a:solidFill>
              </a:rPr>
              <a:t>A multi-role web application digitising the complete lifecycle of FLN assessment —</a:t>
            </a: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false">
                <a:solidFill>
                  <a:srgbClr val="FFFFFF">
                    <a:alpha val="70588"/>
                  </a:srgbClr>
                </a:solidFill>
              </a:rPr>
              <a:t>from student data entry to year-end class promotion.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62000" y="2286000"/>
            <a:ext cx="1778000" cy="1079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C5078"/>
            </a:solidFill>
          </a:ln>
        </p:spPr>
        <p:txBody>
          <a:bodyPr anchor="t" rtlCol="false"/>
          <a:lstStyle/>
        </p:txBody>
      </p:sp>
      <p:sp>
        <p:nvSpPr>
          <p:cNvPr name="TextBox 10" id="10"/>
          <p:cNvSpPr txBox="true"/>
          <p:nvPr/>
        </p:nvSpPr>
        <p:spPr>
          <a:xfrm>
            <a:off x="762000" y="24384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000" b="true">
                <a:solidFill>
                  <a:srgbClr val="60A5FA"/>
                </a:solidFill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762000" y="29464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User Roles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2768600" y="2286000"/>
            <a:ext cx="1778000" cy="1079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C5078"/>
            </a:solidFill>
          </a:ln>
        </p:spPr>
        <p:txBody>
          <a:bodyPr anchor="t" rtlCol="false"/>
          <a:lstStyle/>
        </p:txBody>
      </p:sp>
      <p:sp>
        <p:nvSpPr>
          <p:cNvPr name="TextBox 13" id="13"/>
          <p:cNvSpPr txBox="true"/>
          <p:nvPr/>
        </p:nvSpPr>
        <p:spPr>
          <a:xfrm>
            <a:off x="2768600" y="24384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000" b="true">
                <a:solidFill>
                  <a:srgbClr val="4ADE80"/>
                </a:solidFill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2768600" y="29464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Phases/Year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4775200" y="2286000"/>
            <a:ext cx="1778000" cy="1079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C5078"/>
            </a:solidFill>
          </a:ln>
        </p:spPr>
        <p:txBody>
          <a:bodyPr anchor="t" rtlCol="false"/>
          <a:lstStyle/>
        </p:txBody>
      </p:sp>
      <p:sp>
        <p:nvSpPr>
          <p:cNvPr name="TextBox 16" id="16"/>
          <p:cNvSpPr txBox="true"/>
          <p:nvPr/>
        </p:nvSpPr>
        <p:spPr>
          <a:xfrm>
            <a:off x="4775200" y="24384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000" b="true">
                <a:solidFill>
                  <a:srgbClr val="F472B6"/>
                </a:solidFill>
              </a:rPr>
              <a:t>9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4775200" y="29464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Classes I–IX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6781800" y="2286000"/>
            <a:ext cx="1778000" cy="1079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C5078"/>
            </a:solidFill>
          </a:ln>
        </p:spPr>
        <p:txBody>
          <a:bodyPr anchor="t" rtlCol="false"/>
          <a:lstStyle/>
        </p:txBody>
      </p:sp>
      <p:sp>
        <p:nvSpPr>
          <p:cNvPr name="TextBox 19" id="19"/>
          <p:cNvSpPr txBox="true"/>
          <p:nvPr/>
        </p:nvSpPr>
        <p:spPr>
          <a:xfrm>
            <a:off x="6781800" y="24384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000" b="true">
                <a:solidFill>
                  <a:srgbClr val="FB923C"/>
                </a:solidFill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6781800" y="29464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Subjects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8788400" y="2286000"/>
            <a:ext cx="1778000" cy="1079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C5078"/>
            </a:solidFill>
          </a:ln>
        </p:spPr>
        <p:txBody>
          <a:bodyPr anchor="t" rtlCol="false"/>
          <a:lstStyle/>
        </p:txBody>
      </p:sp>
      <p:sp>
        <p:nvSpPr>
          <p:cNvPr name="TextBox 22" id="22"/>
          <p:cNvSpPr txBox="true"/>
          <p:nvPr/>
        </p:nvSpPr>
        <p:spPr>
          <a:xfrm>
            <a:off x="8788400" y="24384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000" b="true">
                <a:solidFill>
                  <a:srgbClr val="C084FC"/>
                </a:solidFill>
              </a:rPr>
              <a:t>80+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8788400" y="29464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JSP Pages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10795000" y="2286000"/>
            <a:ext cx="1778000" cy="1079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C5078"/>
            </a:solidFill>
          </a:ln>
        </p:spPr>
        <p:txBody>
          <a:bodyPr anchor="t" rtlCol="false"/>
          <a:lstStyle/>
        </p:txBody>
      </p:sp>
      <p:sp>
        <p:nvSpPr>
          <p:cNvPr name="TextBox 25" id="25"/>
          <p:cNvSpPr txBox="true"/>
          <p:nvPr/>
        </p:nvSpPr>
        <p:spPr>
          <a:xfrm>
            <a:off x="10795000" y="24384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000" b="true">
                <a:solidFill>
                  <a:srgbClr val="2DD4BF"/>
                </a:solidFill>
              </a:rPr>
              <a:t>100+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10795000" y="29464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Servlets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762000" y="3619500"/>
            <a:ext cx="3403600" cy="2349500"/>
          </a:xfrm>
          <a:prstGeom prst="rect">
            <a:avLst/>
          </a:prstGeom>
          <a:solidFill>
            <a:srgbClr val="141E32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28" id="28"/>
          <p:cNvSpPr txBox="true"/>
          <p:nvPr/>
        </p:nvSpPr>
        <p:spPr>
          <a:xfrm>
            <a:off x="889000" y="3784600"/>
            <a:ext cx="31496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60A5FA"/>
                </a:solidFill>
              </a:rPr>
              <a:t>📍 Subjects Assessed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889000" y="4254500"/>
            <a:ext cx="31496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Marathi (मराठी) — 6 levels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Mathematics (गणित) — 8 levels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English (इंग्रजी) — 6 levels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FLN completion per student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4572000" y="3619500"/>
            <a:ext cx="3403600" cy="2349500"/>
          </a:xfrm>
          <a:prstGeom prst="rect">
            <a:avLst/>
          </a:prstGeom>
          <a:solidFill>
            <a:srgbClr val="141E32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31" id="31"/>
          <p:cNvSpPr txBox="true"/>
          <p:nvPr/>
        </p:nvSpPr>
        <p:spPr>
          <a:xfrm>
            <a:off x="4699000" y="3784600"/>
            <a:ext cx="31496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60A5FA"/>
                </a:solidFill>
              </a:rPr>
              <a:t>📐 Geographic Hierarchy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4699000" y="4254500"/>
            <a:ext cx="31496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State → Division (विभाग)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Division → District (जिल्हा)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District → School (UDISE)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School → Student (PEN)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8382000" y="3619500"/>
            <a:ext cx="3403600" cy="2349500"/>
          </a:xfrm>
          <a:prstGeom prst="rect">
            <a:avLst/>
          </a:prstGeom>
          <a:solidFill>
            <a:srgbClr val="141E32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34" id="34"/>
          <p:cNvSpPr txBox="true"/>
          <p:nvPr/>
        </p:nvSpPr>
        <p:spPr>
          <a:xfrm>
            <a:off x="8509000" y="3784600"/>
            <a:ext cx="31496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60A5FA"/>
                </a:solidFill>
              </a:rPr>
              <a:t>🔄 Annual Cycle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8509000" y="4254500"/>
            <a:ext cx="31496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Phase 1 — Term start baseline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Phase 2 &amp; 3 — Mid-year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Phase 4 — Year-end assessment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200">
                <a:solidFill>
                  <a:srgbClr val="FFFFFF">
                    <a:alpha val="70588"/>
                  </a:srgbClr>
                </a:solidFill>
              </a:rPr>
              <a:t>→  Year-end — Promote / Graduate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ACCESS CONTROL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User Roles &amp; Permissions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5875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false">
                <a:solidFill>
                  <a:srgbClr val="FFFFFF">
                    <a:alpha val="70588"/>
                  </a:srgbClr>
                </a:solidFill>
              </a:rPr>
              <a:t>Six distinct roles with separate dashboards — each sees only what is relevant to their level.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62000" y="2222500"/>
            <a:ext cx="3619500" cy="1841500"/>
          </a:xfrm>
          <a:prstGeom prst="rect">
            <a:avLst/>
          </a:prstGeom>
          <a:solidFill>
            <a:srgbClr val="EF4444">
              <a:alpha val="31373"/>
            </a:srgbClr>
          </a:solidFill>
          <a:ln w="12700">
            <a:solidFill>
              <a:srgbClr val="EF4444"/>
            </a:solidFill>
          </a:ln>
        </p:spPr>
        <p:txBody>
          <a:bodyPr anchor="t" rtlCol="false"/>
          <a:lstStyle/>
        </p:txBody>
      </p:sp>
      <p:sp>
        <p:nvSpPr>
          <p:cNvPr name="TextBox 10" id="10"/>
          <p:cNvSpPr txBox="true"/>
          <p:nvPr/>
        </p:nvSpPr>
        <p:spPr>
          <a:xfrm>
            <a:off x="914400" y="2349500"/>
            <a:ext cx="33147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👑  Data Admin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914400" y="2806700"/>
            <a:ext cx="3314700" cy="1143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Full system access. Manages schools, uploads students, runs promotions, top-level authority.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699000" y="2222500"/>
            <a:ext cx="3619500" cy="1841500"/>
          </a:xfrm>
          <a:prstGeom prst="rect">
            <a:avLst/>
          </a:prstGeom>
          <a:solidFill>
            <a:srgbClr val="3B82F6">
              <a:alpha val="31373"/>
            </a:srgbClr>
          </a:solidFill>
          <a:ln w="12700">
            <a:solidFill>
              <a:srgbClr val="3B82F6"/>
            </a:solidFill>
          </a:ln>
        </p:spPr>
        <p:txBody>
          <a:bodyPr anchor="t" rtlCol="false"/>
          <a:lstStyle/>
        </p:txBody>
      </p:sp>
      <p:sp>
        <p:nvSpPr>
          <p:cNvPr name="TextBox 13" id="13"/>
          <p:cNvSpPr txBox="true"/>
          <p:nvPr/>
        </p:nvSpPr>
        <p:spPr>
          <a:xfrm>
            <a:off x="4851400" y="2349500"/>
            <a:ext cx="33147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📝  School Coordinator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851400" y="2806700"/>
            <a:ext cx="3314700" cy="1143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Enters FLN phase data for their school. Submits phases for Head Master approval.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8636000" y="2222500"/>
            <a:ext cx="3619500" cy="1841500"/>
          </a:xfrm>
          <a:prstGeom prst="rect">
            <a:avLst/>
          </a:prstGeom>
          <a:solidFill>
            <a:srgbClr val="22C55E">
              <a:alpha val="31373"/>
            </a:srgbClr>
          </a:solidFill>
          <a:ln w="12700">
            <a:solidFill>
              <a:srgbClr val="22C55E"/>
            </a:solidFill>
          </a:ln>
        </p:spPr>
        <p:txBody>
          <a:bodyPr anchor="t" rtlCol="false"/>
          <a:lstStyle/>
        </p:txBody>
      </p:sp>
      <p:sp>
        <p:nvSpPr>
          <p:cNvPr name="TextBox 16" id="16"/>
          <p:cNvSpPr txBox="true"/>
          <p:nvPr/>
        </p:nvSpPr>
        <p:spPr>
          <a:xfrm>
            <a:off x="8788400" y="2349500"/>
            <a:ext cx="33147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✅  Head Master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8788400" y="2806700"/>
            <a:ext cx="3314700" cy="1143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Reviews and approves or rejects phase submissions. Data quality gate-keeper.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762000" y="4318000"/>
            <a:ext cx="3619500" cy="1841500"/>
          </a:xfrm>
          <a:prstGeom prst="rect">
            <a:avLst/>
          </a:prstGeom>
          <a:solidFill>
            <a:srgbClr val="A855F7">
              <a:alpha val="31373"/>
            </a:srgbClr>
          </a:solidFill>
          <a:ln w="12700">
            <a:solidFill>
              <a:srgbClr val="A855F7"/>
            </a:solidFill>
          </a:ln>
        </p:spPr>
        <p:txBody>
          <a:bodyPr anchor="t" rtlCol="false"/>
          <a:lstStyle/>
        </p:txBody>
      </p:sp>
      <p:sp>
        <p:nvSpPr>
          <p:cNvPr name="TextBox 19" id="19"/>
          <p:cNvSpPr txBox="true"/>
          <p:nvPr/>
        </p:nvSpPr>
        <p:spPr>
          <a:xfrm>
            <a:off x="914400" y="4445000"/>
            <a:ext cx="33147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🏢  District Officer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914400" y="4902200"/>
            <a:ext cx="3314700" cy="1143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Views all schools' phase completion, student levels, teacher assignments in district.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4699000" y="4318000"/>
            <a:ext cx="3619500" cy="1841500"/>
          </a:xfrm>
          <a:prstGeom prst="rect">
            <a:avLst/>
          </a:prstGeom>
          <a:solidFill>
            <a:srgbClr val="F97316">
              <a:alpha val="31373"/>
            </a:srgbClr>
          </a:solidFill>
          <a:ln w="12700">
            <a:solidFill>
              <a:srgbClr val="F97316"/>
            </a:solidFill>
          </a:ln>
        </p:spPr>
        <p:txBody>
          <a:bodyPr anchor="t" rtlCol="false"/>
          <a:lstStyle/>
        </p:txBody>
      </p:sp>
      <p:sp>
        <p:nvSpPr>
          <p:cNvPr name="TextBox 22" id="22"/>
          <p:cNvSpPr txBox="true"/>
          <p:nvPr/>
        </p:nvSpPr>
        <p:spPr>
          <a:xfrm>
            <a:off x="4851400" y="4445000"/>
            <a:ext cx="33147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🗺️  Division Officer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4851400" y="4902200"/>
            <a:ext cx="3314700" cy="1143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Monitors division-level analytics, phase comparisons across all districts.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8636000" y="4318000"/>
            <a:ext cx="3619500" cy="1841500"/>
          </a:xfrm>
          <a:prstGeom prst="rect">
            <a:avLst/>
          </a:prstGeom>
          <a:solidFill>
            <a:srgbClr val="14B8A6">
              <a:alpha val="31373"/>
            </a:srgbClr>
          </a:solidFill>
          <a:ln w="12700">
            <a:solidFill>
              <a:srgbClr val="14B8A6"/>
            </a:solidFill>
          </a:ln>
        </p:spPr>
        <p:txBody>
          <a:bodyPr anchor="t" rtlCol="false"/>
          <a:lstStyle/>
        </p:txBody>
      </p:sp>
      <p:sp>
        <p:nvSpPr>
          <p:cNvPr name="TextBox 25" id="25"/>
          <p:cNvSpPr txBox="true"/>
          <p:nvPr/>
        </p:nvSpPr>
        <p:spPr>
          <a:xfrm>
            <a:off x="8788400" y="4445000"/>
            <a:ext cx="33147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🔭  Super Division Officer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8788400" y="4902200"/>
            <a:ext cx="3314700" cy="1143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State-level view across all divisions. Highest analytics access.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CORE WORKFLOW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FLN Phase Assessment Workflow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5875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false">
                <a:solidFill>
                  <a:srgbClr val="FFFFFF">
                    <a:alpha val="70588"/>
                  </a:srgbClr>
                </a:solidFill>
              </a:rPr>
              <a:t>Every academic year has 4 phases. Each phase must be completed and approved before the next unlocks.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62000" y="2222500"/>
            <a:ext cx="2730500" cy="1968500"/>
          </a:xfrm>
          <a:prstGeom prst="rect">
            <a:avLst/>
          </a:prstGeom>
          <a:solidFill>
            <a:srgbClr val="3B82F6">
              <a:alpha val="23529"/>
            </a:srgbClr>
          </a:solidFill>
          <a:ln w="12700">
            <a:solidFill>
              <a:srgbClr val="3B82F6"/>
            </a:solidFill>
          </a:ln>
        </p:spPr>
        <p:txBody>
          <a:bodyPr anchor="t" rtlCol="false"/>
          <a:lstStyle/>
        </p:txBody>
      </p:sp>
      <p:sp>
        <p:nvSpPr>
          <p:cNvPr name="TextBox 10" id="10"/>
          <p:cNvSpPr txBox="true"/>
          <p:nvPr/>
        </p:nvSpPr>
        <p:spPr>
          <a:xfrm>
            <a:off x="889000" y="2349500"/>
            <a:ext cx="24765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FFFFFF"/>
                </a:solidFill>
              </a:rPr>
              <a:t>📘 Phase 1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889000" y="2768600"/>
            <a:ext cx="2476500" cy="1333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Baseline assessment. Seeded from last year's Phase 4 data after promotion. Coordinator enters Marathi, Math, English levels for every student.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3746500" y="2222500"/>
            <a:ext cx="2730500" cy="1968500"/>
          </a:xfrm>
          <a:prstGeom prst="rect">
            <a:avLst/>
          </a:prstGeom>
          <a:solidFill>
            <a:srgbClr val="22C55E">
              <a:alpha val="23529"/>
            </a:srgbClr>
          </a:solidFill>
          <a:ln w="12700">
            <a:solidFill>
              <a:srgbClr val="22C55E"/>
            </a:solidFill>
          </a:ln>
        </p:spPr>
        <p:txBody>
          <a:bodyPr anchor="t" rtlCol="false"/>
          <a:lstStyle/>
        </p:txBody>
      </p:sp>
      <p:sp>
        <p:nvSpPr>
          <p:cNvPr name="TextBox 13" id="13"/>
          <p:cNvSpPr txBox="true"/>
          <p:nvPr/>
        </p:nvSpPr>
        <p:spPr>
          <a:xfrm>
            <a:off x="3873500" y="2349500"/>
            <a:ext cx="24765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FFFFFF"/>
                </a:solidFill>
              </a:rPr>
              <a:t>📗 Phase 2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3873500" y="2768600"/>
            <a:ext cx="2476500" cy="1333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Mid-year assessment 1. Unlocks ONLY after Phase 1 is approved by Head Master. Coordinator updates student levels.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6731000" y="2222500"/>
            <a:ext cx="2730500" cy="1968500"/>
          </a:xfrm>
          <a:prstGeom prst="rect">
            <a:avLst/>
          </a:prstGeom>
          <a:solidFill>
            <a:srgbClr val="F97316">
              <a:alpha val="23529"/>
            </a:srgbClr>
          </a:solidFill>
          <a:ln w="12700">
            <a:solidFill>
              <a:srgbClr val="F97316"/>
            </a:solidFill>
          </a:ln>
        </p:spPr>
        <p:txBody>
          <a:bodyPr anchor="t" rtlCol="false"/>
          <a:lstStyle/>
        </p:txBody>
      </p:sp>
      <p:sp>
        <p:nvSpPr>
          <p:cNvPr name="TextBox 16" id="16"/>
          <p:cNvSpPr txBox="true"/>
          <p:nvPr/>
        </p:nvSpPr>
        <p:spPr>
          <a:xfrm>
            <a:off x="6858000" y="2349500"/>
            <a:ext cx="24765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FFFFFF"/>
                </a:solidFill>
              </a:rPr>
              <a:t>📙 Phase 3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6858000" y="2768600"/>
            <a:ext cx="2476500" cy="1333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Mid-year assessment 2. Unlocks after Phase 2 approval. Level jumps tracked vs Phase 1 baseline.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9715500" y="2222500"/>
            <a:ext cx="2730500" cy="1968500"/>
          </a:xfrm>
          <a:prstGeom prst="rect">
            <a:avLst/>
          </a:prstGeom>
          <a:solidFill>
            <a:srgbClr val="A855F7">
              <a:alpha val="23529"/>
            </a:srgbClr>
          </a:solidFill>
          <a:ln w="12700">
            <a:solidFill>
              <a:srgbClr val="A855F7"/>
            </a:solidFill>
          </a:ln>
        </p:spPr>
        <p:txBody>
          <a:bodyPr anchor="t" rtlCol="false"/>
          <a:lstStyle/>
        </p:txBody>
      </p:sp>
      <p:sp>
        <p:nvSpPr>
          <p:cNvPr name="TextBox 19" id="19"/>
          <p:cNvSpPr txBox="true"/>
          <p:nvPr/>
        </p:nvSpPr>
        <p:spPr>
          <a:xfrm>
            <a:off x="9842500" y="2349500"/>
            <a:ext cx="24765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FFFFFF"/>
                </a:solidFill>
              </a:rPr>
              <a:t>📕 Phase 4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9842500" y="2768600"/>
            <a:ext cx="2476500" cy="1333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Year-end final assessment. After approval, data becomes seed for next year's Phase 1 via class promotion.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762000" y="45085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Approval Flow (per Phase)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762000" y="4991100"/>
            <a:ext cx="1968500" cy="825500"/>
          </a:xfrm>
          <a:prstGeom prst="rect">
            <a:avLst/>
          </a:prstGeom>
          <a:solidFill>
            <a:srgbClr val="145028"/>
          </a:solidFill>
          <a:ln w="12700">
            <a:solidFill>
              <a:srgbClr val="32B450"/>
            </a:solidFill>
          </a:ln>
        </p:spPr>
        <p:txBody>
          <a:bodyPr anchor="t" rtlCol="false"/>
          <a:lstStyle/>
        </p:txBody>
      </p:sp>
      <p:sp>
        <p:nvSpPr>
          <p:cNvPr name="TextBox 23" id="23"/>
          <p:cNvSpPr txBox="true"/>
          <p:nvPr/>
        </p:nvSpPr>
        <p:spPr>
          <a:xfrm>
            <a:off x="762000" y="5080000"/>
            <a:ext cx="19685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/>
                </a:solidFill>
              </a:rPr>
              <a:t>📝 Coordinator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/>
                </a:solidFill>
              </a:rPr>
              <a:t>Enters Data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2819400" y="5270500"/>
            <a:ext cx="3175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FFFFFF">
                    <a:alpha val="50980"/>
                  </a:srgbClr>
                </a:solidFill>
              </a:rPr>
              <a:t>→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111500" y="4991100"/>
            <a:ext cx="1968500" cy="825500"/>
          </a:xfrm>
          <a:prstGeom prst="rect">
            <a:avLst/>
          </a:prstGeom>
          <a:solidFill>
            <a:srgbClr val="145028"/>
          </a:solidFill>
          <a:ln w="12700">
            <a:solidFill>
              <a:srgbClr val="32B450"/>
            </a:solidFill>
          </a:ln>
        </p:spPr>
        <p:txBody>
          <a:bodyPr anchor="t" rtlCol="false"/>
          <a:lstStyle/>
        </p:txBody>
      </p:sp>
      <p:sp>
        <p:nvSpPr>
          <p:cNvPr name="TextBox 26" id="26"/>
          <p:cNvSpPr txBox="true"/>
          <p:nvPr/>
        </p:nvSpPr>
        <p:spPr>
          <a:xfrm>
            <a:off x="3111500" y="5080000"/>
            <a:ext cx="19685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/>
                </a:solidFill>
              </a:rPr>
              <a:t>📤 Submit for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/>
                </a:solidFill>
              </a:rPr>
              <a:t>Approval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5168900" y="5270500"/>
            <a:ext cx="3175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FFFFFF">
                    <a:alpha val="50980"/>
                  </a:srgbClr>
                </a:solidFill>
              </a:rPr>
              <a:t>→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5461000" y="4991100"/>
            <a:ext cx="1968500" cy="825500"/>
          </a:xfrm>
          <a:prstGeom prst="rect">
            <a:avLst/>
          </a:prstGeom>
          <a:solidFill>
            <a:srgbClr val="145028"/>
          </a:solidFill>
          <a:ln w="12700">
            <a:solidFill>
              <a:srgbClr val="32B450"/>
            </a:solidFill>
          </a:ln>
        </p:spPr>
        <p:txBody>
          <a:bodyPr anchor="t" rtlCol="false"/>
          <a:lstStyle/>
        </p:txBody>
      </p:sp>
      <p:sp>
        <p:nvSpPr>
          <p:cNvPr name="TextBox 29" id="29"/>
          <p:cNvSpPr txBox="true"/>
          <p:nvPr/>
        </p:nvSpPr>
        <p:spPr>
          <a:xfrm>
            <a:off x="5461000" y="5080000"/>
            <a:ext cx="19685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/>
                </a:solidFill>
              </a:rPr>
              <a:t>🔍 Head Master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/>
                </a:solidFill>
              </a:rPr>
              <a:t>Reviews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7518400" y="5270500"/>
            <a:ext cx="3175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FFFFFF">
                    <a:alpha val="50980"/>
                  </a:srgbClr>
                </a:solidFill>
              </a:rPr>
              <a:t>→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7810500" y="4991100"/>
            <a:ext cx="1968500" cy="825500"/>
          </a:xfrm>
          <a:prstGeom prst="rect">
            <a:avLst/>
          </a:prstGeom>
          <a:solidFill>
            <a:srgbClr val="145028"/>
          </a:solidFill>
          <a:ln w="12700">
            <a:solidFill>
              <a:srgbClr val="32B450"/>
            </a:solidFill>
          </a:ln>
        </p:spPr>
        <p:txBody>
          <a:bodyPr anchor="t" rtlCol="false"/>
          <a:lstStyle/>
        </p:txBody>
      </p:sp>
      <p:sp>
        <p:nvSpPr>
          <p:cNvPr name="TextBox 32" id="32"/>
          <p:cNvSpPr txBox="true"/>
          <p:nvPr/>
        </p:nvSpPr>
        <p:spPr>
          <a:xfrm>
            <a:off x="7810500" y="5080000"/>
            <a:ext cx="19685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/>
                </a:solidFill>
              </a:rPr>
              <a:t>✅ APPROVED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9867900" y="5270500"/>
            <a:ext cx="3175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FFFFFF">
                    <a:alpha val="50980"/>
                  </a:srgbClr>
                </a:solidFill>
              </a:rPr>
              <a:t>→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10160000" y="4991100"/>
            <a:ext cx="1968500" cy="825500"/>
          </a:xfrm>
          <a:prstGeom prst="rect">
            <a:avLst/>
          </a:prstGeom>
          <a:solidFill>
            <a:srgbClr val="145028"/>
          </a:solidFill>
          <a:ln w="12700">
            <a:solidFill>
              <a:srgbClr val="32B450"/>
            </a:solidFill>
          </a:ln>
        </p:spPr>
        <p:txBody>
          <a:bodyPr anchor="t" rtlCol="false"/>
          <a:lstStyle/>
        </p:txBody>
      </p:sp>
      <p:sp>
        <p:nvSpPr>
          <p:cNvPr name="TextBox 35" id="35"/>
          <p:cNvSpPr txBox="true"/>
          <p:nvPr/>
        </p:nvSpPr>
        <p:spPr>
          <a:xfrm>
            <a:off x="10160000" y="5080000"/>
            <a:ext cx="19685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/>
                </a:solidFill>
              </a:rPr>
              <a:t>🔓 Next Phase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/>
                </a:solidFill>
              </a:rPr>
              <a:t>Unlocks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FUNCTIONAL MODULES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System Modules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5240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9" id="9"/>
          <p:cNvSpPr txBox="true"/>
          <p:nvPr/>
        </p:nvSpPr>
        <p:spPr>
          <a:xfrm>
            <a:off x="863600" y="16256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🔐 Authentication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863600" y="20320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Login, logout, BCrypt passwords, account lockout, session management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3746500" y="15240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12" id="12"/>
          <p:cNvSpPr txBox="true"/>
          <p:nvPr/>
        </p:nvSpPr>
        <p:spPr>
          <a:xfrm>
            <a:off x="3848100" y="16256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👨‍🎓 Student Management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3848100" y="20320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Add/edit/view students, Excel upload, FLN entry, PEN tracking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6731000" y="15240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15" id="15"/>
          <p:cNvSpPr txBox="true"/>
          <p:nvPr/>
        </p:nvSpPr>
        <p:spPr>
          <a:xfrm>
            <a:off x="6832600" y="16256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📊 Phase Assessment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6832600" y="20320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4-phase data entry, phase locking, submit for approval, status view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9715500" y="15240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18" id="18"/>
          <p:cNvSpPr txBox="true"/>
          <p:nvPr/>
        </p:nvSpPr>
        <p:spPr>
          <a:xfrm>
            <a:off x="9817100" y="16256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✅ Approval Workflow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9817100" y="20320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Head Master phase approval, Palak Melava approval, audit trail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762000" y="32385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21" id="21"/>
          <p:cNvSpPr txBox="true"/>
          <p:nvPr/>
        </p:nvSpPr>
        <p:spPr>
          <a:xfrm>
            <a:off x="863600" y="33401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📈 Analytics Dashboards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863600" y="37465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Level distribution, phase comparison, level jumps, subject stats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3746500" y="32385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24" id="24"/>
          <p:cNvSpPr txBox="true"/>
          <p:nvPr/>
        </p:nvSpPr>
        <p:spPr>
          <a:xfrm>
            <a:off x="3848100" y="33401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👨‍👩‍👧 Palak Melava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848100" y="37465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Record parent meetings, upload photos, district meeting statistics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6731000" y="32385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27" id="27"/>
          <p:cNvSpPr txBox="true"/>
          <p:nvPr/>
        </p:nvSpPr>
        <p:spPr>
          <a:xfrm>
            <a:off x="6832600" y="33401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👨‍🏫 Teacher Management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6832600" y="37465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Add/edit teachers, assign to classes, track teacher progress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9715500" y="32385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30" id="30"/>
          <p:cNvSpPr txBox="true"/>
          <p:nvPr/>
        </p:nvSpPr>
        <p:spPr>
          <a:xfrm>
            <a:off x="9817100" y="33401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📄 Student Reports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9817100" y="37465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Generate PDF report cards, request/approve reports workflow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762000" y="49530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33" id="33"/>
          <p:cNvSpPr txBox="true"/>
          <p:nvPr/>
        </p:nvSpPr>
        <p:spPr>
          <a:xfrm>
            <a:off x="863600" y="50546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🎓 Class Promotion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863600" y="54610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Year-end promotion, Class IX graduation, 4-table audit trail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3746500" y="49530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36" id="36"/>
          <p:cNvSpPr txBox="true"/>
          <p:nvPr/>
        </p:nvSpPr>
        <p:spPr>
          <a:xfrm>
            <a:off x="3848100" y="50546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🎬 Video Management</a:t>
            </a:r>
          </a:p>
        </p:txBody>
      </p:sp>
      <p:sp>
        <p:nvSpPr>
          <p:cNvPr name="TextBox 37" id="37"/>
          <p:cNvSpPr txBox="true"/>
          <p:nvPr/>
        </p:nvSpPr>
        <p:spPr>
          <a:xfrm>
            <a:off x="3848100" y="54610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Student learning videos, YouTube integration, BunnyCDN storage</a:t>
            </a:r>
          </a:p>
        </p:txBody>
      </p:sp>
      <p:sp>
        <p:nvSpPr>
          <p:cNvPr name="TextBox 38" id="38"/>
          <p:cNvSpPr txBox="true"/>
          <p:nvPr/>
        </p:nvSpPr>
        <p:spPr>
          <a:xfrm>
            <a:off x="6731000" y="49530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39" id="39"/>
          <p:cNvSpPr txBox="true"/>
          <p:nvPr/>
        </p:nvSpPr>
        <p:spPr>
          <a:xfrm>
            <a:off x="6832600" y="50546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🏫 School Management</a:t>
            </a:r>
          </a:p>
        </p:txBody>
      </p:sp>
      <p:sp>
        <p:nvSpPr>
          <p:cNvPr name="TextBox 40" id="40"/>
          <p:cNvSpPr txBox="true"/>
          <p:nvPr/>
        </p:nvSpPr>
        <p:spPr>
          <a:xfrm>
            <a:off x="6832600" y="54610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Upload schools via Excel, school contacts, profiles</a:t>
            </a:r>
          </a:p>
        </p:txBody>
      </p:sp>
      <p:sp>
        <p:nvSpPr>
          <p:cNvPr name="TextBox 41" id="41"/>
          <p:cNvSpPr txBox="true"/>
          <p:nvPr/>
        </p:nvSpPr>
        <p:spPr>
          <a:xfrm>
            <a:off x="9715500" y="4953000"/>
            <a:ext cx="2730500" cy="1524000"/>
          </a:xfrm>
          <a:prstGeom prst="rect">
            <a:avLst/>
          </a:prstGeom>
          <a:solidFill>
            <a:srgbClr val="0F192D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42" id="42"/>
          <p:cNvSpPr txBox="true"/>
          <p:nvPr/>
        </p:nvSpPr>
        <p:spPr>
          <a:xfrm>
            <a:off x="9817100" y="5054600"/>
            <a:ext cx="25273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🔔 Notifications</a:t>
            </a:r>
          </a:p>
        </p:txBody>
      </p:sp>
      <p:sp>
        <p:nvSpPr>
          <p:cNvPr name="TextBox 43" id="43"/>
          <p:cNvSpPr txBox="true"/>
          <p:nvPr/>
        </p:nvSpPr>
        <p:spPr>
          <a:xfrm>
            <a:off x="9817100" y="5461000"/>
            <a:ext cx="2527300" cy="914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Admin announcements, other school activities submission &amp; approval</a:t>
            </a:r>
          </a:p>
        </p:txBody>
      </p:sp>
      <p:sp>
        <p:nvSpPr>
          <p:cNvPr name="TextBox 44" id="44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KEY FEATURE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Year-End Class Promotion System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5875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false">
                <a:solidFill>
                  <a:srgbClr val="FFFFFF">
                    <a:alpha val="70588"/>
                  </a:srgbClr>
                </a:solidFill>
              </a:rPr>
              <a:t>Fully atomic, audited 6-step transaction — Classes I–VIII promoted, Class IX graduates permanently.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62000" y="2159000"/>
            <a:ext cx="355600" cy="3556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anchor="t" rtlCol="false"/>
          <a:lstStyle/>
        </p:txBody>
      </p:sp>
      <p:sp>
        <p:nvSpPr>
          <p:cNvPr name="TextBox 10" id="10"/>
          <p:cNvSpPr txBox="true"/>
          <p:nvPr/>
        </p:nvSpPr>
        <p:spPr>
          <a:xfrm>
            <a:off x="762000" y="21844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140A05"/>
                </a:solidFill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1244600" y="2184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Create Promotion Log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1244600" y="24130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Records who promoted, when, and for which academic year.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762000" y="2984500"/>
            <a:ext cx="355600" cy="3556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anchor="t" rtlCol="false"/>
          <a:lstStyle/>
        </p:txBody>
      </p:sp>
      <p:sp>
        <p:nvSpPr>
          <p:cNvPr name="TextBox 14" id="14"/>
          <p:cNvSpPr txBox="true"/>
          <p:nvPr/>
        </p:nvSpPr>
        <p:spPr>
          <a:xfrm>
            <a:off x="762000" y="30099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140A05"/>
                </a:solidFill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1244600" y="30099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Archive Phase Data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1244600" y="32385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All student phase data saved to student_phase_history table.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762000" y="3810000"/>
            <a:ext cx="355600" cy="3556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anchor="t" rtlCol="false"/>
          <a:lstStyle/>
        </p:txBody>
      </p:sp>
      <p:sp>
        <p:nvSpPr>
          <p:cNvPr name="TextBox 18" id="18"/>
          <p:cNvSpPr txBox="true"/>
          <p:nvPr/>
        </p:nvSpPr>
        <p:spPr>
          <a:xfrm>
            <a:off x="762000" y="38354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140A05"/>
                </a:solidFill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1244600" y="3835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Archive Approvals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1244600" y="40640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Approval records saved to history, then cleared for new year.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762000" y="4635500"/>
            <a:ext cx="355600" cy="3556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anchor="t" rtlCol="false"/>
          <a:lstStyle/>
        </p:txBody>
      </p:sp>
      <p:sp>
        <p:nvSpPr>
          <p:cNvPr name="TextBox 22" id="22"/>
          <p:cNvSpPr txBox="true"/>
          <p:nvPr/>
        </p:nvSpPr>
        <p:spPr>
          <a:xfrm>
            <a:off x="762000" y="46609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140A05"/>
                </a:solidFill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1244600" y="46609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Graduate Class IX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1244600" y="48895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Moved to graduated_students table permanently, marked inactive.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762000" y="5461000"/>
            <a:ext cx="355600" cy="3556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anchor="t" rtlCol="false"/>
          <a:lstStyle/>
        </p:txBody>
      </p:sp>
      <p:sp>
        <p:nvSpPr>
          <p:cNvPr name="TextBox 26" id="26"/>
          <p:cNvSpPr txBox="true"/>
          <p:nvPr/>
        </p:nvSpPr>
        <p:spPr>
          <a:xfrm>
            <a:off x="762000" y="54864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140A05"/>
                </a:solidFill>
              </a:rPr>
              <a:t>5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1244600" y="5486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Promote Classes I–VIII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1244600" y="57150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Advance class, seed Phase 1 from last completed phase (COALESCE).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762000" y="6286500"/>
            <a:ext cx="355600" cy="3556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anchor="t" rtlCol="false"/>
          <a:lstStyle/>
        </p:txBody>
      </p:sp>
      <p:sp>
        <p:nvSpPr>
          <p:cNvPr name="TextBox 30" id="30"/>
          <p:cNvSpPr txBox="true"/>
          <p:nvPr/>
        </p:nvSpPr>
        <p:spPr>
          <a:xfrm>
            <a:off x="762000" y="63119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140A05"/>
                </a:solidFill>
              </a:rPr>
              <a:t>6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1244600" y="63119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Update Log Counts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1244600" y="65405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Records total promoted and graduated for audit reference.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7366000" y="2095500"/>
            <a:ext cx="4699000" cy="1968500"/>
          </a:xfrm>
          <a:prstGeom prst="rect">
            <a:avLst/>
          </a:prstGeom>
          <a:solidFill>
            <a:srgbClr val="501E0A"/>
          </a:solidFill>
          <a:ln w="12700">
            <a:solidFill>
              <a:srgbClr val="B45014"/>
            </a:solidFill>
          </a:ln>
        </p:spPr>
        <p:txBody>
          <a:bodyPr anchor="t" rtlCol="false"/>
          <a:lstStyle/>
        </p:txBody>
      </p:sp>
      <p:sp>
        <p:nvSpPr>
          <p:cNvPr name="TextBox 34" id="34"/>
          <p:cNvSpPr txBox="true"/>
          <p:nvPr/>
        </p:nvSpPr>
        <p:spPr>
          <a:xfrm>
            <a:off x="7493000" y="22225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FB923C"/>
                </a:solidFill>
              </a:rPr>
              <a:t>🔒 Smart Phase Seeding (COALESCE)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7493000" y="2603500"/>
            <a:ext cx="4445000" cy="1371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Phase 1 for new year seeded from best available phase:</a:t>
            </a: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 </a:t>
            </a: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Phase 4 → Phase 3 → Phase 2 → Phase 1</a:t>
            </a: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 </a:t>
            </a: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Schools that didn't complete all 4 phases still get</a:t>
            </a: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a meaningful baseline for the new year.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7366000" y="4254500"/>
            <a:ext cx="4699000" cy="1841500"/>
          </a:xfrm>
          <a:prstGeom prst="rect">
            <a:avLst/>
          </a:prstGeom>
          <a:solidFill>
            <a:srgbClr val="0A3214"/>
          </a:solidFill>
          <a:ln w="12700">
            <a:solidFill>
              <a:srgbClr val="149632"/>
            </a:solidFill>
          </a:ln>
        </p:spPr>
        <p:txBody>
          <a:bodyPr anchor="t" rtlCol="false"/>
          <a:lstStyle/>
        </p:txBody>
      </p:sp>
      <p:sp>
        <p:nvSpPr>
          <p:cNvPr name="TextBox 37" id="37"/>
          <p:cNvSpPr txBox="true"/>
          <p:nvPr/>
        </p:nvSpPr>
        <p:spPr>
          <a:xfrm>
            <a:off x="7493000" y="43815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4ADE80"/>
                </a:solidFill>
              </a:rPr>
              <a:t>📋 4 Audit Tables Created</a:t>
            </a:r>
          </a:p>
        </p:txBody>
      </p:sp>
      <p:sp>
        <p:nvSpPr>
          <p:cNvPr name="TextBox 38" id="38"/>
          <p:cNvSpPr txBox="true"/>
          <p:nvPr/>
        </p:nvSpPr>
        <p:spPr>
          <a:xfrm>
            <a:off x="7493000" y="4800600"/>
            <a:ext cx="44450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class_promotion_log — one row per promotion run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student_phase_history — all student phase data archived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graduated_students — permanent IX graduate record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phase_approvals_history — approval decisions archive</a:t>
            </a:r>
          </a:p>
        </p:txBody>
      </p:sp>
      <p:sp>
        <p:nvSpPr>
          <p:cNvPr name="TextBox 39" id="39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DATA INTELLIGENCE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Analytics &amp; Reporting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5875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false">
                <a:solidFill>
                  <a:srgbClr val="FFFFFF">
                    <a:alpha val="70588"/>
                  </a:srgbClr>
                </a:solidFill>
              </a:rPr>
              <a:t>Real-time analytics at every level of the hierarchy — school, district, division, and state.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62000" y="2159000"/>
            <a:ext cx="3746500" cy="2349500"/>
          </a:xfrm>
          <a:prstGeom prst="rect">
            <a:avLst/>
          </a:prstGeom>
          <a:solidFill>
            <a:srgbClr val="0A3C3C"/>
          </a:solidFill>
          <a:ln w="12700">
            <a:solidFill>
              <a:srgbClr val="148C82"/>
            </a:solidFill>
          </a:ln>
        </p:spPr>
        <p:txBody>
          <a:bodyPr anchor="t" rtlCol="false"/>
          <a:lstStyle/>
        </p:txBody>
      </p:sp>
      <p:sp>
        <p:nvSpPr>
          <p:cNvPr name="TextBox 10" id="10"/>
          <p:cNvSpPr txBox="true"/>
          <p:nvPr/>
        </p:nvSpPr>
        <p:spPr>
          <a:xfrm>
            <a:off x="889000" y="2260600"/>
            <a:ext cx="34925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2DD4BF"/>
                </a:solidFill>
              </a:rPr>
              <a:t>🏫 School Level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889000" y="2692400"/>
            <a:ext cx="34925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Phase-wise student level summary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Individual student progress tracking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FLN completion percentage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Phase submission status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PDF student report card generation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762500" y="2159000"/>
            <a:ext cx="3746500" cy="2349500"/>
          </a:xfrm>
          <a:prstGeom prst="rect">
            <a:avLst/>
          </a:prstGeom>
          <a:solidFill>
            <a:srgbClr val="0A3C3C"/>
          </a:solidFill>
          <a:ln w="12700">
            <a:solidFill>
              <a:srgbClr val="148C82"/>
            </a:solidFill>
          </a:ln>
        </p:spPr>
        <p:txBody>
          <a:bodyPr anchor="t" rtlCol="false"/>
          <a:lstStyle/>
        </p:txBody>
      </p:sp>
      <p:sp>
        <p:nvSpPr>
          <p:cNvPr name="TextBox 13" id="13"/>
          <p:cNvSpPr txBox="true"/>
          <p:nvPr/>
        </p:nvSpPr>
        <p:spPr>
          <a:xfrm>
            <a:off x="4889500" y="2260600"/>
            <a:ext cx="34925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2DD4BF"/>
                </a:solidFill>
              </a:rPr>
              <a:t>🏢 District Level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889500" y="2692400"/>
            <a:ext cx="34925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All schools' phase completion status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District-wide level distribution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Teacher assignment progress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Palak Melava statistics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Student level jump tracking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8763000" y="2159000"/>
            <a:ext cx="3746500" cy="2349500"/>
          </a:xfrm>
          <a:prstGeom prst="rect">
            <a:avLst/>
          </a:prstGeom>
          <a:solidFill>
            <a:srgbClr val="0A3C3C"/>
          </a:solidFill>
          <a:ln w="12700">
            <a:solidFill>
              <a:srgbClr val="148C82"/>
            </a:solidFill>
          </a:ln>
        </p:spPr>
        <p:txBody>
          <a:bodyPr anchor="t" rtlCol="false"/>
          <a:lstStyle/>
        </p:txBody>
      </p:sp>
      <p:sp>
        <p:nvSpPr>
          <p:cNvPr name="TextBox 16" id="16"/>
          <p:cNvSpPr txBox="true"/>
          <p:nvPr/>
        </p:nvSpPr>
        <p:spPr>
          <a:xfrm>
            <a:off x="8890000" y="2260600"/>
            <a:ext cx="34925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2DD4BF"/>
                </a:solidFill>
              </a:rPr>
              <a:t>🗺️ Division / State Level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8890000" y="2692400"/>
            <a:ext cx="34925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Division-wide phase comparison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Subject-wise statistics across districts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Phase-wise level percentage charts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Activity analysis dashboards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School contact coverage analytics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762000" y="47625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Key Metrics Tracked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762000" y="5181600"/>
            <a:ext cx="2794000" cy="1016000"/>
          </a:xfrm>
          <a:prstGeom prst="rect">
            <a:avLst/>
          </a:prstGeom>
          <a:solidFill>
            <a:srgbClr val="0A3232"/>
          </a:solidFill>
          <a:ln w="12700">
            <a:solidFill>
              <a:srgbClr val="14786E"/>
            </a:solidFill>
          </a:ln>
        </p:spPr>
        <p:txBody>
          <a:bodyPr anchor="t" rtlCol="false"/>
          <a:lstStyle/>
        </p:txBody>
      </p:sp>
      <p:sp>
        <p:nvSpPr>
          <p:cNvPr name="TextBox 20" id="20"/>
          <p:cNvSpPr txBox="true"/>
          <p:nvPr/>
        </p:nvSpPr>
        <p:spPr>
          <a:xfrm>
            <a:off x="863600" y="5270500"/>
            <a:ext cx="25908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📉→📈 Level Jumps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863600" y="5588000"/>
            <a:ext cx="2590800" cy="533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Student improvement from Phase 1 to Phase 4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3810000" y="5181600"/>
            <a:ext cx="2794000" cy="1016000"/>
          </a:xfrm>
          <a:prstGeom prst="rect">
            <a:avLst/>
          </a:prstGeom>
          <a:solidFill>
            <a:srgbClr val="0A3232"/>
          </a:solidFill>
          <a:ln w="12700">
            <a:solidFill>
              <a:srgbClr val="14786E"/>
            </a:solidFill>
          </a:ln>
        </p:spPr>
        <p:txBody>
          <a:bodyPr anchor="t" rtlCol="false"/>
          <a:lstStyle/>
        </p:txBody>
      </p:sp>
      <p:sp>
        <p:nvSpPr>
          <p:cNvPr name="TextBox 23" id="23"/>
          <p:cNvSpPr txBox="true"/>
          <p:nvPr/>
        </p:nvSpPr>
        <p:spPr>
          <a:xfrm>
            <a:off x="3911600" y="5270500"/>
            <a:ext cx="25908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🎯 FLN Completion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3911600" y="5588000"/>
            <a:ext cx="2590800" cy="533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Students achieving 100% in all 3 subjects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6858000" y="5181600"/>
            <a:ext cx="2794000" cy="1016000"/>
          </a:xfrm>
          <a:prstGeom prst="rect">
            <a:avLst/>
          </a:prstGeom>
          <a:solidFill>
            <a:srgbClr val="0A3232"/>
          </a:solidFill>
          <a:ln w="12700">
            <a:solidFill>
              <a:srgbClr val="14786E"/>
            </a:solidFill>
          </a:ln>
        </p:spPr>
        <p:txBody>
          <a:bodyPr anchor="t" rtlCol="false"/>
          <a:lstStyle/>
        </p:txBody>
      </p:sp>
      <p:sp>
        <p:nvSpPr>
          <p:cNvPr name="TextBox 26" id="26"/>
          <p:cNvSpPr txBox="true"/>
          <p:nvPr/>
        </p:nvSpPr>
        <p:spPr>
          <a:xfrm>
            <a:off x="6959600" y="5270500"/>
            <a:ext cx="25908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📊 Phase Comparison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6959600" y="5588000"/>
            <a:ext cx="2590800" cy="533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Side-by-side level distributions across all 4 phases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9906000" y="5181600"/>
            <a:ext cx="2794000" cy="1016000"/>
          </a:xfrm>
          <a:prstGeom prst="rect">
            <a:avLst/>
          </a:prstGeom>
          <a:solidFill>
            <a:srgbClr val="0A3232"/>
          </a:solidFill>
          <a:ln w="12700">
            <a:solidFill>
              <a:srgbClr val="14786E"/>
            </a:solidFill>
          </a:ln>
        </p:spPr>
        <p:txBody>
          <a:bodyPr anchor="t" rtlCol="false"/>
          <a:lstStyle/>
        </p:txBody>
      </p:sp>
      <p:sp>
        <p:nvSpPr>
          <p:cNvPr name="TextBox 29" id="29"/>
          <p:cNvSpPr txBox="true"/>
          <p:nvPr/>
        </p:nvSpPr>
        <p:spPr>
          <a:xfrm>
            <a:off x="10007600" y="5270500"/>
            <a:ext cx="25908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🏆 School Ranking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10007600" y="5588000"/>
            <a:ext cx="2590800" cy="533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70588"/>
                  </a:srgbClr>
                </a:solidFill>
              </a:rPr>
              <a:t>Schools sorted by FLN achievement in district/division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TECHNOLOGY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600" b="true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62000" y="2095500"/>
            <a:ext cx="27940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10" id="10"/>
          <p:cNvSpPr txBox="true"/>
          <p:nvPr/>
        </p:nvSpPr>
        <p:spPr>
          <a:xfrm>
            <a:off x="863600" y="21463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☕  Java EE Servlets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863600" y="2374900"/>
            <a:ext cx="2590800" cy="177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@WebServlet annotation-based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3810000" y="2095500"/>
            <a:ext cx="27940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13" id="13"/>
          <p:cNvSpPr txBox="true"/>
          <p:nvPr/>
        </p:nvSpPr>
        <p:spPr>
          <a:xfrm>
            <a:off x="3911600" y="21463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📄  JSP Pages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3911600" y="2374900"/>
            <a:ext cx="2590800" cy="177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Server-side rendering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762000" y="2730500"/>
            <a:ext cx="27940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16" id="16"/>
          <p:cNvSpPr txBox="true"/>
          <p:nvPr/>
        </p:nvSpPr>
        <p:spPr>
          <a:xfrm>
            <a:off x="863600" y="27813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🐬  MySQL 8.0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863600" y="3009900"/>
            <a:ext cx="2590800" cy="177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utf8mb4_unicode_ci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3810000" y="2730500"/>
            <a:ext cx="27940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19" id="19"/>
          <p:cNvSpPr txBox="true"/>
          <p:nvPr/>
        </p:nvSpPr>
        <p:spPr>
          <a:xfrm>
            <a:off x="3911600" y="27813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🐈  Apache Tomcat 9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911600" y="3009900"/>
            <a:ext cx="2590800" cy="177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Servlet container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762000" y="3365500"/>
            <a:ext cx="27940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22" id="22"/>
          <p:cNvSpPr txBox="true"/>
          <p:nvPr/>
        </p:nvSpPr>
        <p:spPr>
          <a:xfrm>
            <a:off x="863600" y="34163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📦  Apache POI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863600" y="3644900"/>
            <a:ext cx="2590800" cy="177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Excel import/export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3810000" y="3365500"/>
            <a:ext cx="27940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25" id="25"/>
          <p:cNvSpPr txBox="true"/>
          <p:nvPr/>
        </p:nvSpPr>
        <p:spPr>
          <a:xfrm>
            <a:off x="3911600" y="34163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🔣  org.json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3911600" y="3644900"/>
            <a:ext cx="2590800" cy="177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JSON API responses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762000" y="4000500"/>
            <a:ext cx="27940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28" id="28"/>
          <p:cNvSpPr txBox="true"/>
          <p:nvPr/>
        </p:nvSpPr>
        <p:spPr>
          <a:xfrm>
            <a:off x="863600" y="40513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🎬  YouTube Data API v3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863600" y="4279900"/>
            <a:ext cx="2590800" cy="177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Video upload integration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3810000" y="4000500"/>
            <a:ext cx="27940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31" id="31"/>
          <p:cNvSpPr txBox="true"/>
          <p:nvPr/>
        </p:nvSpPr>
        <p:spPr>
          <a:xfrm>
            <a:off x="3911600" y="40513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🐰  BunnyCDN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3911600" y="4279900"/>
            <a:ext cx="2590800" cy="177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Video CDN storage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762000" y="4635500"/>
            <a:ext cx="27940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34" id="34"/>
          <p:cNvSpPr txBox="true"/>
          <p:nvPr/>
        </p:nvSpPr>
        <p:spPr>
          <a:xfrm>
            <a:off x="863600" y="46863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🔐  BCrypt</a:t>
            </a:r>
          </a:p>
        </p:txBody>
      </p:sp>
      <p:sp>
        <p:nvSpPr>
          <p:cNvPr name="TextBox 35" id="35"/>
          <p:cNvSpPr txBox="true"/>
          <p:nvPr/>
        </p:nvSpPr>
        <p:spPr>
          <a:xfrm>
            <a:off x="863600" y="4914900"/>
            <a:ext cx="2590800" cy="177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Password hashing</a:t>
            </a:r>
          </a:p>
        </p:txBody>
      </p:sp>
      <p:sp>
        <p:nvSpPr>
          <p:cNvPr name="TextBox 36" id="36"/>
          <p:cNvSpPr txBox="true"/>
          <p:nvPr/>
        </p:nvSpPr>
        <p:spPr>
          <a:xfrm>
            <a:off x="3810000" y="4635500"/>
            <a:ext cx="27940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37" id="37"/>
          <p:cNvSpPr txBox="true"/>
          <p:nvPr/>
        </p:nvSpPr>
        <p:spPr>
          <a:xfrm>
            <a:off x="3911600" y="46863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FFFFF"/>
                </a:solidFill>
              </a:rPr>
              <a:t>📑  iText PDF</a:t>
            </a:r>
          </a:p>
        </p:txBody>
      </p:sp>
      <p:sp>
        <p:nvSpPr>
          <p:cNvPr name="TextBox 38" id="38"/>
          <p:cNvSpPr txBox="true"/>
          <p:nvPr/>
        </p:nvSpPr>
        <p:spPr>
          <a:xfrm>
            <a:off x="3911600" y="4914900"/>
            <a:ext cx="2590800" cy="1778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Report card generation</a:t>
            </a:r>
          </a:p>
        </p:txBody>
      </p:sp>
      <p:sp>
        <p:nvSpPr>
          <p:cNvPr name="TextBox 39" id="39"/>
          <p:cNvSpPr txBox="true"/>
          <p:nvPr/>
        </p:nvSpPr>
        <p:spPr>
          <a:xfrm>
            <a:off x="7366000" y="16510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600" b="true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name="TextBox 40" id="40"/>
          <p:cNvSpPr txBox="true"/>
          <p:nvPr/>
        </p:nvSpPr>
        <p:spPr>
          <a:xfrm>
            <a:off x="7302500" y="2133600"/>
            <a:ext cx="46355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41" id="41"/>
          <p:cNvSpPr txBox="true"/>
          <p:nvPr/>
        </p:nvSpPr>
        <p:spPr>
          <a:xfrm>
            <a:off x="7404100" y="2260600"/>
            <a:ext cx="44323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60A5FA"/>
                </a:solidFill>
              </a:rPr>
              <a:t>🖥️  Browser (JSP + JavaScript + Fetch API)</a:t>
            </a:r>
          </a:p>
        </p:txBody>
      </p:sp>
      <p:sp>
        <p:nvSpPr>
          <p:cNvPr name="TextBox 42" id="42"/>
          <p:cNvSpPr txBox="true"/>
          <p:nvPr/>
        </p:nvSpPr>
        <p:spPr>
          <a:xfrm>
            <a:off x="7302500" y="2895600"/>
            <a:ext cx="46355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400" b="false">
                <a:solidFill>
                  <a:srgbClr val="FFFFFF">
                    <a:alpha val="50980"/>
                  </a:srgbClr>
                </a:solidFill>
              </a:rPr>
              <a:t>↕  HTTP / JSON</a:t>
            </a:r>
          </a:p>
        </p:txBody>
      </p:sp>
      <p:sp>
        <p:nvSpPr>
          <p:cNvPr name="TextBox 43" id="43"/>
          <p:cNvSpPr txBox="true"/>
          <p:nvPr/>
        </p:nvSpPr>
        <p:spPr>
          <a:xfrm>
            <a:off x="7302500" y="3403600"/>
            <a:ext cx="46355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44" id="44"/>
          <p:cNvSpPr txBox="true"/>
          <p:nvPr/>
        </p:nvSpPr>
        <p:spPr>
          <a:xfrm>
            <a:off x="7404100" y="3530600"/>
            <a:ext cx="44323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4ADE80"/>
                </a:solidFill>
              </a:rPr>
              <a:t>⚙️  Java Servlets  (@WebServlet REST APIs)</a:t>
            </a:r>
          </a:p>
        </p:txBody>
      </p:sp>
      <p:sp>
        <p:nvSpPr>
          <p:cNvPr name="TextBox 45" id="45"/>
          <p:cNvSpPr txBox="true"/>
          <p:nvPr/>
        </p:nvSpPr>
        <p:spPr>
          <a:xfrm>
            <a:off x="7302500" y="4165600"/>
            <a:ext cx="46355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400" b="false">
                <a:solidFill>
                  <a:srgbClr val="FFFFFF">
                    <a:alpha val="50980"/>
                  </a:srgbClr>
                </a:solidFill>
              </a:rPr>
              <a:t>↕  JDBC / PreparedStatement</a:t>
            </a:r>
          </a:p>
        </p:txBody>
      </p:sp>
      <p:sp>
        <p:nvSpPr>
          <p:cNvPr name="TextBox 46" id="46"/>
          <p:cNvSpPr txBox="true"/>
          <p:nvPr/>
        </p:nvSpPr>
        <p:spPr>
          <a:xfrm>
            <a:off x="7302500" y="4673600"/>
            <a:ext cx="46355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47" id="47"/>
          <p:cNvSpPr txBox="true"/>
          <p:nvPr/>
        </p:nvSpPr>
        <p:spPr>
          <a:xfrm>
            <a:off x="7404100" y="4800600"/>
            <a:ext cx="44323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FB923C"/>
                </a:solidFill>
              </a:rPr>
              <a:t>🐬  MySQL  (vjnt_class_management)</a:t>
            </a:r>
          </a:p>
        </p:txBody>
      </p:sp>
      <p:sp>
        <p:nvSpPr>
          <p:cNvPr name="TextBox 48" id="48"/>
          <p:cNvSpPr txBox="true"/>
          <p:nvPr/>
        </p:nvSpPr>
        <p:spPr>
          <a:xfrm>
            <a:off x="7302500" y="5435600"/>
            <a:ext cx="46355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400" b="false">
                <a:solidFill>
                  <a:srgbClr val="FFFFFF">
                    <a:alpha val="50980"/>
                  </a:srgbClr>
                </a:solidFill>
              </a:rPr>
              <a:t>↕</a:t>
            </a:r>
          </a:p>
        </p:txBody>
      </p:sp>
      <p:sp>
        <p:nvSpPr>
          <p:cNvPr name="TextBox 49" id="49"/>
          <p:cNvSpPr txBox="true"/>
          <p:nvPr/>
        </p:nvSpPr>
        <p:spPr>
          <a:xfrm>
            <a:off x="7302500" y="5943600"/>
            <a:ext cx="4635500" cy="508000"/>
          </a:xfrm>
          <a:prstGeom prst="rect">
            <a:avLst/>
          </a:prstGeom>
          <a:solidFill>
            <a:srgbClr val="141E37"/>
          </a:solidFill>
          <a:ln w="12700">
            <a:solidFill>
              <a:srgbClr val="283C64"/>
            </a:solidFill>
          </a:ln>
        </p:spPr>
        <p:txBody>
          <a:bodyPr anchor="t" rtlCol="false"/>
          <a:lstStyle/>
        </p:txBody>
      </p:sp>
      <p:sp>
        <p:nvSpPr>
          <p:cNvPr name="TextBox 50" id="50"/>
          <p:cNvSpPr txBox="true"/>
          <p:nvPr/>
        </p:nvSpPr>
        <p:spPr>
          <a:xfrm>
            <a:off x="7404100" y="6070600"/>
            <a:ext cx="4432300" cy="2794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true">
                <a:solidFill>
                  <a:srgbClr val="C084FC"/>
                </a:solidFill>
              </a:rPr>
              <a:t>📦  BunnyCDN  (Videos)  |  YouTube API</a:t>
            </a:r>
          </a:p>
        </p:txBody>
      </p:sp>
      <p:sp>
        <p:nvSpPr>
          <p:cNvPr name="TextBox 51" id="51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SECURITY &amp; ACCESS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Security Features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968500"/>
            <a:ext cx="5715000" cy="2413000"/>
          </a:xfrm>
          <a:prstGeom prst="rect">
            <a:avLst/>
          </a:prstGeom>
          <a:solidFill>
            <a:srgbClr val="3C0514"/>
          </a:solidFill>
          <a:ln w="12700">
            <a:solidFill>
              <a:srgbClr val="B41E3C"/>
            </a:solidFill>
          </a:ln>
        </p:spPr>
        <p:txBody>
          <a:bodyPr anchor="t" rtlCol="false"/>
          <a:lstStyle/>
        </p:txBody>
      </p:sp>
      <p:sp>
        <p:nvSpPr>
          <p:cNvPr name="TextBox 9" id="9"/>
          <p:cNvSpPr txBox="true"/>
          <p:nvPr/>
        </p:nvSpPr>
        <p:spPr>
          <a:xfrm>
            <a:off x="914400" y="2095500"/>
            <a:ext cx="54102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🔐 Authentication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914400" y="2540000"/>
            <a:ext cx="54102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BCrypt password hashing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Account lockout after failed attempts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Session-based login management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Secure logout — session invalidation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Change password with verification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794500" y="1968500"/>
            <a:ext cx="5715000" cy="2413000"/>
          </a:xfrm>
          <a:prstGeom prst="rect">
            <a:avLst/>
          </a:prstGeom>
          <a:solidFill>
            <a:srgbClr val="3C0514"/>
          </a:solidFill>
          <a:ln w="12700">
            <a:solidFill>
              <a:srgbClr val="B41E3C"/>
            </a:solidFill>
          </a:ln>
        </p:spPr>
        <p:txBody>
          <a:bodyPr anchor="t" rtlCol="false"/>
          <a:lstStyle/>
        </p:txBody>
      </p:sp>
      <p:sp>
        <p:nvSpPr>
          <p:cNvPr name="TextBox 12" id="12"/>
          <p:cNvSpPr txBox="true"/>
          <p:nvPr/>
        </p:nvSpPr>
        <p:spPr>
          <a:xfrm>
            <a:off x="6946900" y="2095500"/>
            <a:ext cx="54102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🛡️ Authorisation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6946900" y="2540000"/>
            <a:ext cx="54102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Every JSP checks session + role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Every servlet validates user type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DATA_ADMIN-only pages redirect on access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School coordinators limited to own UDISE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Officers limited to their geography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762000" y="4635500"/>
            <a:ext cx="5715000" cy="2413000"/>
          </a:xfrm>
          <a:prstGeom prst="rect">
            <a:avLst/>
          </a:prstGeom>
          <a:solidFill>
            <a:srgbClr val="3C0514"/>
          </a:solidFill>
          <a:ln w="12700">
            <a:solidFill>
              <a:srgbClr val="B41E3C"/>
            </a:solidFill>
          </a:ln>
        </p:spPr>
        <p:txBody>
          <a:bodyPr anchor="t" rtlCol="false"/>
          <a:lstStyle/>
        </p:txBody>
      </p:sp>
      <p:sp>
        <p:nvSpPr>
          <p:cNvPr name="TextBox 15" id="15"/>
          <p:cNvSpPr txBox="true"/>
          <p:nvPr/>
        </p:nvSpPr>
        <p:spPr>
          <a:xfrm>
            <a:off x="914400" y="4762500"/>
            <a:ext cx="54102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🖼️ Media Security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914400" y="5207000"/>
            <a:ext cx="54102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Palak Melava photos encrypted at rest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Images served via SecureImageServlet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Videos stored on BunnyCDN (private)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YouTube upload with OAuth 2.0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No direct file-path exposure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6794500" y="4635500"/>
            <a:ext cx="5715000" cy="2413000"/>
          </a:xfrm>
          <a:prstGeom prst="rect">
            <a:avLst/>
          </a:prstGeom>
          <a:solidFill>
            <a:srgbClr val="3C0514"/>
          </a:solidFill>
          <a:ln w="12700">
            <a:solidFill>
              <a:srgbClr val="B41E3C"/>
            </a:solidFill>
          </a:ln>
        </p:spPr>
        <p:txBody>
          <a:bodyPr anchor="t" rtlCol="false"/>
          <a:lstStyle/>
        </p:txBody>
      </p:sp>
      <p:sp>
        <p:nvSpPr>
          <p:cNvPr name="TextBox 18" id="18"/>
          <p:cNvSpPr txBox="true"/>
          <p:nvPr/>
        </p:nvSpPr>
        <p:spPr>
          <a:xfrm>
            <a:off x="6946900" y="4762500"/>
            <a:ext cx="54102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📋 Data Integrity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6946900" y="5207000"/>
            <a:ext cx="54102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Phase locking — next phase disabled until previous approved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Promotion is atomic DB transaction (rollback on error)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Full audit trail — nothing deleted, everything archived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Graduated students permanently preserved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SQL injection prevention via PreparedStatement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ROADMAP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Upcoming Features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5875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false">
                <a:solidFill>
                  <a:srgbClr val="FFFFFF">
                    <a:alpha val="70588"/>
                  </a:srgbClr>
                </a:solidFill>
              </a:rPr>
              <a:t>Features planned for the next development phase.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62000" y="2159000"/>
            <a:ext cx="2794000" cy="3937000"/>
          </a:xfrm>
          <a:prstGeom prst="rect">
            <a:avLst/>
          </a:prstGeom>
          <a:solidFill>
            <a:srgbClr val="22C55E">
              <a:alpha val="23529"/>
            </a:srgbClr>
          </a:solidFill>
          <a:ln w="12700">
            <a:solidFill>
              <a:srgbClr val="4ADE80"/>
            </a:solidFill>
          </a:ln>
        </p:spPr>
        <p:txBody>
          <a:bodyPr anchor="t" rtlCol="false"/>
          <a:lstStyle/>
        </p:txBody>
      </p:sp>
      <p:sp>
        <p:nvSpPr>
          <p:cNvPr name="TextBox 10" id="10"/>
          <p:cNvSpPr txBox="true"/>
          <p:nvPr/>
        </p:nvSpPr>
        <p:spPr>
          <a:xfrm>
            <a:off x="889000" y="2260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900" b="true">
                <a:solidFill>
                  <a:srgbClr val="4ADE80"/>
                </a:solidFill>
              </a:rPr>
              <a:t>PHASE A — IN PLAN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889000" y="25400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FFFFFF"/>
                </a:solidFill>
              </a:rPr>
              <a:t>💬 WhatsApp Notifications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889000" y="2971800"/>
            <a:ext cx="25400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Phase approval alerts to coordinators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Phase submission alerts to Head Master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Promotion completion notifications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Weekly reminders for incomplete phases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Provider: MSG91 (Indian BSP)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3784600" y="2159000"/>
            <a:ext cx="2794000" cy="3937000"/>
          </a:xfrm>
          <a:prstGeom prst="rect">
            <a:avLst/>
          </a:prstGeom>
          <a:solidFill>
            <a:srgbClr val="3B82F6">
              <a:alpha val="23529"/>
            </a:srgbClr>
          </a:solidFill>
          <a:ln w="12700">
            <a:solidFill>
              <a:srgbClr val="60A5FA"/>
            </a:solidFill>
          </a:ln>
        </p:spPr>
        <p:txBody>
          <a:bodyPr anchor="t" rtlCol="false"/>
          <a:lstStyle/>
        </p:txBody>
      </p:sp>
      <p:sp>
        <p:nvSpPr>
          <p:cNvPr name="TextBox 14" id="14"/>
          <p:cNvSpPr txBox="true"/>
          <p:nvPr/>
        </p:nvSpPr>
        <p:spPr>
          <a:xfrm>
            <a:off x="3911600" y="2260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900" b="true">
                <a:solidFill>
                  <a:srgbClr val="60A5FA"/>
                </a:solidFill>
              </a:rPr>
              <a:t>PHASE B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911600" y="25400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FFFFFF"/>
                </a:solidFill>
              </a:rPr>
              <a:t>📱 Mobile Responsive UI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3911600" y="2971800"/>
            <a:ext cx="25400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Touch-friendly data entry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Coordinators enter data from phones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Responsive dashboards for all screens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Offline-capable form entry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6807200" y="2159000"/>
            <a:ext cx="2794000" cy="3937000"/>
          </a:xfrm>
          <a:prstGeom prst="rect">
            <a:avLst/>
          </a:prstGeom>
          <a:solidFill>
            <a:srgbClr val="A855F7">
              <a:alpha val="23529"/>
            </a:srgbClr>
          </a:solidFill>
          <a:ln w="12700">
            <a:solidFill>
              <a:srgbClr val="C084FC"/>
            </a:solidFill>
          </a:ln>
        </p:spPr>
        <p:txBody>
          <a:bodyPr anchor="t" rtlCol="false"/>
          <a:lstStyle/>
        </p:txBody>
      </p:sp>
      <p:sp>
        <p:nvSpPr>
          <p:cNvPr name="TextBox 18" id="18"/>
          <p:cNvSpPr txBox="true"/>
          <p:nvPr/>
        </p:nvSpPr>
        <p:spPr>
          <a:xfrm>
            <a:off x="6934200" y="2260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900" b="true">
                <a:solidFill>
                  <a:srgbClr val="C084FC"/>
                </a:solidFill>
              </a:rPr>
              <a:t>PHASE C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6934200" y="25400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FFFFFF"/>
                </a:solidFill>
              </a:rPr>
              <a:t>📊 Advanced Reports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6934200" y="2971800"/>
            <a:ext cx="25400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Excel export for all analytics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State-level summary PDF generation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Comparative year-on-year reports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School progress certificates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9829800" y="2159000"/>
            <a:ext cx="2794000" cy="3937000"/>
          </a:xfrm>
          <a:prstGeom prst="rect">
            <a:avLst/>
          </a:prstGeom>
          <a:solidFill>
            <a:srgbClr val="F97316">
              <a:alpha val="23529"/>
            </a:srgbClr>
          </a:solidFill>
          <a:ln w="12700">
            <a:solidFill>
              <a:srgbClr val="FB923C"/>
            </a:solidFill>
          </a:ln>
        </p:spPr>
        <p:txBody>
          <a:bodyPr anchor="t" rtlCol="false"/>
          <a:lstStyle/>
        </p:txBody>
      </p:sp>
      <p:sp>
        <p:nvSpPr>
          <p:cNvPr name="TextBox 22" id="22"/>
          <p:cNvSpPr txBox="true"/>
          <p:nvPr/>
        </p:nvSpPr>
        <p:spPr>
          <a:xfrm>
            <a:off x="9956800" y="2260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900" b="true">
                <a:solidFill>
                  <a:srgbClr val="FB923C"/>
                </a:solidFill>
              </a:rPr>
              <a:t>PHASE D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9956800" y="25400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true">
                <a:solidFill>
                  <a:srgbClr val="FFFFFF"/>
                </a:solidFill>
              </a:rPr>
              <a:t>🤖 AI Insights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9956800" y="2971800"/>
            <a:ext cx="2540000" cy="508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Predict at-risk students early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Recommended teaching interventions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Anomaly detection in data entry</a:t>
            </a:r>
          </a:p>
          <a:p>
            <a:pPr algn="l">
              <a:spcBef>
                <a:spcPct val="0"/>
              </a:spcBef>
              <a:spcAft>
                <a:spcPct val="2000"/>
              </a:spcAft>
            </a:pPr>
            <a:r>
              <a:rPr lang="en-US" sz="1100">
                <a:solidFill>
                  <a:srgbClr val="FFFFFF">
                    <a:alpha val="70588"/>
                  </a:srgbClr>
                </a:solidFill>
              </a:rPr>
              <a:t>→  Automated progress summaries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762000" y="6350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200" b="false">
                <a:solidFill>
                  <a:srgbClr val="FFFFFF">
                    <a:alpha val="50980"/>
                  </a:srgbClr>
                </a:solidFill>
              </a:rPr>
              <a:t>Total estimated effort: 6–9 days (including MSG91 template approval turnaround)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762000" y="698500"/>
            <a:ext cx="10160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762000" y="508000"/>
            <a:ext cx="10160000" cy="317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000" b="false">
                <a:solidFill>
                  <a:srgbClr val="FFFFFF">
                    <a:alpha val="50980"/>
                  </a:srgbClr>
                </a:solidFill>
              </a:rPr>
              <a:t>IMPACT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825500"/>
            <a:ext cx="10160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3400" b="true">
                <a:solidFill>
                  <a:srgbClr val="FFFFFF"/>
                </a:solidFill>
              </a:rPr>
              <a:t>Expected Impact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" y="15875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00" b="false">
                <a:solidFill>
                  <a:srgbClr val="FFFFFF">
                    <a:alpha val="70588"/>
                  </a:srgbClr>
                </a:solidFill>
              </a:rPr>
              <a:t>GATEE Portal transforms how VJNT welfare schools track and improve student learning outcomes.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62000" y="2222500"/>
            <a:ext cx="3746500" cy="1778000"/>
          </a:xfrm>
          <a:prstGeom prst="rect">
            <a:avLst/>
          </a:prstGeom>
          <a:solidFill>
            <a:srgbClr val="05280F"/>
          </a:solidFill>
          <a:ln w="12700">
            <a:solidFill>
              <a:srgbClr val="148C3C"/>
            </a:solidFill>
          </a:ln>
        </p:spPr>
        <p:txBody>
          <a:bodyPr anchor="t" rtlCol="false"/>
          <a:lstStyle/>
        </p:txBody>
      </p:sp>
      <p:sp>
        <p:nvSpPr>
          <p:cNvPr name="TextBox 10" id="10"/>
          <p:cNvSpPr txBox="true"/>
          <p:nvPr/>
        </p:nvSpPr>
        <p:spPr>
          <a:xfrm>
            <a:off x="914400" y="2374900"/>
            <a:ext cx="34417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🎯  Data Accuracy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914400" y="2794000"/>
            <a:ext cx="3441700" cy="1117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Structured digital entry with phase locking eliminates incomplete or inconsistent FLN data.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762500" y="2222500"/>
            <a:ext cx="3746500" cy="1778000"/>
          </a:xfrm>
          <a:prstGeom prst="rect">
            <a:avLst/>
          </a:prstGeom>
          <a:solidFill>
            <a:srgbClr val="05280F"/>
          </a:solidFill>
          <a:ln w="12700">
            <a:solidFill>
              <a:srgbClr val="148C3C"/>
            </a:solidFill>
          </a:ln>
        </p:spPr>
        <p:txBody>
          <a:bodyPr anchor="t" rtlCol="false"/>
          <a:lstStyle/>
        </p:txBody>
      </p:sp>
      <p:sp>
        <p:nvSpPr>
          <p:cNvPr name="TextBox 13" id="13"/>
          <p:cNvSpPr txBox="true"/>
          <p:nvPr/>
        </p:nvSpPr>
        <p:spPr>
          <a:xfrm>
            <a:off x="4914900" y="2374900"/>
            <a:ext cx="34417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⚡  Speed of Insight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4914900" y="2794000"/>
            <a:ext cx="3441700" cy="1117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Division officers and state administrators see real-time progress — no waiting for manual reports.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8763000" y="2222500"/>
            <a:ext cx="3746500" cy="1778000"/>
          </a:xfrm>
          <a:prstGeom prst="rect">
            <a:avLst/>
          </a:prstGeom>
          <a:solidFill>
            <a:srgbClr val="05280F"/>
          </a:solidFill>
          <a:ln w="12700">
            <a:solidFill>
              <a:srgbClr val="148C3C"/>
            </a:solidFill>
          </a:ln>
        </p:spPr>
        <p:txBody>
          <a:bodyPr anchor="t" rtlCol="false"/>
          <a:lstStyle/>
        </p:txBody>
      </p:sp>
      <p:sp>
        <p:nvSpPr>
          <p:cNvPr name="TextBox 16" id="16"/>
          <p:cNvSpPr txBox="true"/>
          <p:nvPr/>
        </p:nvSpPr>
        <p:spPr>
          <a:xfrm>
            <a:off x="8915400" y="2374900"/>
            <a:ext cx="34417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📣  Accountability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8915400" y="2794000"/>
            <a:ext cx="3441700" cy="1117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Every submission, approval, and promotion tracked with who did it and when — full governance trail.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762000" y="4254500"/>
            <a:ext cx="3746500" cy="1778000"/>
          </a:xfrm>
          <a:prstGeom prst="rect">
            <a:avLst/>
          </a:prstGeom>
          <a:solidFill>
            <a:srgbClr val="05280F"/>
          </a:solidFill>
          <a:ln w="12700">
            <a:solidFill>
              <a:srgbClr val="148C3C"/>
            </a:solidFill>
          </a:ln>
        </p:spPr>
        <p:txBody>
          <a:bodyPr anchor="t" rtlCol="false"/>
          <a:lstStyle/>
        </p:txBody>
      </p:sp>
      <p:sp>
        <p:nvSpPr>
          <p:cNvPr name="TextBox 19" id="19"/>
          <p:cNvSpPr txBox="true"/>
          <p:nvPr/>
        </p:nvSpPr>
        <p:spPr>
          <a:xfrm>
            <a:off x="914400" y="4406900"/>
            <a:ext cx="34417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🔄  Continuous Improvement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914400" y="4826000"/>
            <a:ext cx="3441700" cy="1117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Phase-wise level jump tracking shows whether students actually improve — enabling interventions.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4762500" y="4254500"/>
            <a:ext cx="3746500" cy="1778000"/>
          </a:xfrm>
          <a:prstGeom prst="rect">
            <a:avLst/>
          </a:prstGeom>
          <a:solidFill>
            <a:srgbClr val="05280F"/>
          </a:solidFill>
          <a:ln w="12700">
            <a:solidFill>
              <a:srgbClr val="148C3C"/>
            </a:solidFill>
          </a:ln>
        </p:spPr>
        <p:txBody>
          <a:bodyPr anchor="t" rtlCol="false"/>
          <a:lstStyle/>
        </p:txBody>
      </p:sp>
      <p:sp>
        <p:nvSpPr>
          <p:cNvPr name="TextBox 22" id="22"/>
          <p:cNvSpPr txBox="true"/>
          <p:nvPr/>
        </p:nvSpPr>
        <p:spPr>
          <a:xfrm>
            <a:off x="4914900" y="4406900"/>
            <a:ext cx="34417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🗂️  Permanent Records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4914900" y="4826000"/>
            <a:ext cx="3441700" cy="1117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Graduated students, phase data, and promotion logs preserved permanently for multi-year analysis.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8763000" y="4254500"/>
            <a:ext cx="3746500" cy="1778000"/>
          </a:xfrm>
          <a:prstGeom prst="rect">
            <a:avLst/>
          </a:prstGeom>
          <a:solidFill>
            <a:srgbClr val="05280F"/>
          </a:solidFill>
          <a:ln w="12700">
            <a:solidFill>
              <a:srgbClr val="148C3C"/>
            </a:solidFill>
          </a:ln>
        </p:spPr>
        <p:txBody>
          <a:bodyPr anchor="t" rtlCol="false"/>
          <a:lstStyle/>
        </p:txBody>
      </p:sp>
      <p:sp>
        <p:nvSpPr>
          <p:cNvPr name="TextBox 25" id="25"/>
          <p:cNvSpPr txBox="true"/>
          <p:nvPr/>
        </p:nvSpPr>
        <p:spPr>
          <a:xfrm>
            <a:off x="8915400" y="4406900"/>
            <a:ext cx="3441700" cy="355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400" b="true">
                <a:solidFill>
                  <a:srgbClr val="FFFFFF"/>
                </a:solidFill>
              </a:rPr>
              <a:t>🤝  Parent Engagement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8915400" y="4826000"/>
            <a:ext cx="3441700" cy="11176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100" b="false">
                <a:solidFill>
                  <a:srgbClr val="FFFFFF">
                    <a:alpha val="70588"/>
                  </a:srgbClr>
                </a:solidFill>
              </a:rPr>
              <a:t>Palak Melava module ensures community involvement is recorded and tracked at every school.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name="TextBox 4" id="4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</p:spPr>
        <p:txBody>
          <a:bodyPr anchor="t" rtlCol="false"/>
          <a:lstStyle/>
        </p:txBody>
      </p:sp>
      <p:sp>
        <p:nvSpPr>
          <p:cNvPr name="TextBox 5" id="5"/>
          <p:cNvSpPr txBox="true"/>
          <p:nvPr/>
        </p:nvSpPr>
        <p:spPr>
          <a:xfrm>
            <a:off x="0" y="0"/>
            <a:ext cx="12179300" cy="6858000"/>
          </a:xfrm>
          <a:prstGeom prst="rect">
            <a:avLst/>
          </a:prstGeom>
          <a:solidFill>
            <a:srgbClr val="0A1E46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6" id="6"/>
          <p:cNvSpPr txBox="true"/>
          <p:nvPr/>
        </p:nvSpPr>
        <p:spPr>
          <a:xfrm>
            <a:off x="0" y="1397000"/>
            <a:ext cx="12192000" cy="1016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6000" b="false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826000" y="2730500"/>
            <a:ext cx="25400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8" id="8"/>
          <p:cNvSpPr txBox="true"/>
          <p:nvPr/>
        </p:nvSpPr>
        <p:spPr>
          <a:xfrm>
            <a:off x="0" y="2921000"/>
            <a:ext cx="12192000" cy="1270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5400" b="true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1270000" y="43815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500" b="false">
                <a:solidFill>
                  <a:srgbClr val="FFFFFF">
                    <a:alpha val="70588"/>
                  </a:srgbClr>
                </a:solidFill>
              </a:rPr>
              <a:t>GATEE Portal — Digitising FLN Assessment for VJNT Welfare Schools across Maharashtra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826000" y="5270500"/>
            <a:ext cx="2540000" cy="25400"/>
          </a:xfrm>
          <a:prstGeom prst="rect">
            <a:avLst/>
          </a:prstGeom>
          <a:solidFill>
            <a:srgbClr val="FFFFFF">
              <a:alpha val="50980"/>
            </a:srgbClr>
          </a:solidFill>
          <a:ln>
            <a:noFill/>
          </a:ln>
        </p:spPr>
        <p:txBody>
          <a:bodyPr anchor="t" rtlCol="false"/>
          <a:lstStyle/>
        </p:txBody>
      </p:sp>
      <p:sp>
        <p:nvSpPr>
          <p:cNvPr name="TextBox 11" id="11"/>
          <p:cNvSpPr txBox="true"/>
          <p:nvPr/>
        </p:nvSpPr>
        <p:spPr>
          <a:xfrm>
            <a:off x="1270000" y="54610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200" b="false">
                <a:solidFill>
                  <a:srgbClr val="FFFFFF">
                    <a:alpha val="50980"/>
                  </a:srgbClr>
                </a:solidFill>
              </a:rPr>
              <a:t>anilbolke@gmail.com  |  GATEE Portal — VJNT Class Management  |  2026-27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1270000" y="62230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300" b="false">
                <a:solidFill>
                  <a:srgbClr val="60A5FA"/>
                </a:solidFill>
              </a:rPr>
              <a:t>शिक्षण हे सर्वांसाठी  —  Education for All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11049000" y="66040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anchor="t" rtlCol="false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900" b="false">
                <a:solidFill>
                  <a:srgbClr val="FFFFFF">
                    <a:alpha val="50980"/>
                  </a:srgbClr>
                </a:solidFill>
              </a:rPr>
              <a:t>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